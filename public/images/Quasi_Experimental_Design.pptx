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920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09728" cy="2377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12801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Quasi-Experimental Design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2834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Concepts, Types, Examples &amp; Applications</a:t>
            </a:r>
          </a:p>
          <a:p>
            <a:pPr marL="0" indent="0" algn="l">
              <a:buNone/>
            </a:pPr>
            <a:endParaRPr lang="en-US" sz="2200" i="1" dirty="0">
              <a:solidFill>
                <a:srgbClr val="C9A84C"/>
              </a:solidFill>
              <a:latin typeface="Times New Roman" pitchFamily="34" charset="0"/>
              <a:cs typeface="Times New Roman" pitchFamily="34" charset="-120"/>
            </a:endParaRPr>
          </a:p>
          <a:p>
            <a:pPr marL="0" indent="0" algn="r">
              <a:buNone/>
            </a:pPr>
            <a:r>
              <a:rPr lang="en-US" sz="2200" i="1" dirty="0">
                <a:solidFill>
                  <a:srgbClr val="C9A84C"/>
                </a:solidFill>
                <a:latin typeface="Times New Roman" pitchFamily="34" charset="0"/>
                <a:cs typeface="Times New Roman" pitchFamily="34" charset="-120"/>
              </a:rPr>
              <a:t>PRESENTED BY:</a:t>
            </a:r>
          </a:p>
          <a:p>
            <a:pPr marL="0" indent="0" algn="r">
              <a:buNone/>
            </a:pPr>
            <a:r>
              <a:rPr lang="en-US" sz="2200" i="1" dirty="0">
                <a:solidFill>
                  <a:srgbClr val="C9A84C"/>
                </a:solidFill>
                <a:latin typeface="Times New Roman" pitchFamily="34" charset="0"/>
                <a:cs typeface="Times New Roman" pitchFamily="34" charset="-120"/>
              </a:rPr>
              <a:t>SANJEEV NEUPANE</a:t>
            </a:r>
          </a:p>
          <a:p>
            <a:pPr marL="0" indent="0" algn="r">
              <a:buNone/>
            </a:pPr>
            <a:r>
              <a:rPr lang="en-US" sz="2200" i="1" dirty="0">
                <a:solidFill>
                  <a:srgbClr val="C9A84C"/>
                </a:solidFill>
                <a:latin typeface="Times New Roman" pitchFamily="34" charset="0"/>
                <a:cs typeface="Times New Roman" pitchFamily="34" charset="-120"/>
              </a:rPr>
              <a:t>ROLL NO: 15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Quasi-Experimental Design?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research design that resembles a true experiment but lacks full random assignment of participants to conditions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Researcher manipulates an independent variable but cannot control all extraneous variables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Sits between true experimental and non-experimental (correlational) research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when randomization is ethically, practically, or logistically impossible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Widely applied in education, public health, economics, and social policy research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 Establish cause-and-effect relationships with available data constraints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QED vs True Experiment vs Non-Experiment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15568"/>
          <a:ext cx="8412480" cy="365759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True Experiment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0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Quasi-Experiment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Non-Experiment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Assignment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 Yes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✘ No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✘ No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Manipulation of IV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 Yes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 Yes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✘ No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 Group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✔ Yes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Often Yes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Sometimes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Internal Validity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Moderate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Feasibility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Lower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Higher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Highest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2A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Causal Inference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Strong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Moderate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E2E2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Weak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Types of Quasi-Experimental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Non-Equivalent Control Group Design (NECGD) — most common; compares two pre-existing groups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Interrupted Time Series Design (ITSD) — measures outcomes at multiple time points before and after an intervention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Regression Discontinuity Design (RDD) — assigns treatment based on a cutoff score; compares units just above/below the threshold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Difference-in-Differences (DiD) — compares change over time between a treatment and a comparison group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Propensity Score Matching (PSM) — statistically matches treated and untreated units on observed covariates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Non-Equivalent Control Group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Structure: Treatment group + comparison group, both measured pre- and post-intervention; NO random assignment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Groups are pre-existing (e.g., two classrooms, two hospitals) and may differ on baseline characteristics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threat: Selection bias — groups may differ systematically before treatment begins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Mitigation: Pretest scores, covariate adjustment (ANCOVA), or matching on background variables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A new reading curriculum is introduced in School A; School B (similar demographics) serves as control — reading scores compared before and after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Interrupted Time Series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Structure: A single group is measured repeatedly over time; an intervention 'interrupts' the series at a known point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Analyst looks for a change in level (immediate shift) or slope (trend change) after the intervention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Stronger than a simple pre-post comparison because the pre-intervention trend is explicitly modeled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threat: History — other events occurring at the same time as the intervention may explain the change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Monthly road fatalities recorded for 3 years before and after a drunk-driving law was enacted — a drop in fatalities post-law suggests policy effect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for policy/program evaluations where administrative data are available over long periods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Regression Discontinuity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Structure: Treatment assigned by whether a continuous 'running variable' (score, age, income) crosses a known cutoff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Units just below and just above the cutoff are assumed to be comparable — a 'local' randomization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 is made at the threshold; the discontinuous jump in outcome at the cutoff is the causal estimate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threats: Manipulation of the running variable near the cutoff; other variables that also change at the cutoff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Example: Students scoring below 70 on an exam are assigned to remedial tutoring; comparing outcomes for students scoring 68–69 vs. 70–72 isolates the tutoring effect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Widely used in education (test-score thresholds), social programs (income eligibility), and electoral studies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Threats to Internal Validity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Selection Bias — pre-existing differences between groups, not the intervention, may explain results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History — external events concurrent with the treatment that affect the outcome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Maturation — natural change over time in participants (growth, learning, recovery) unrelated to treatment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to the Mean — extreme baseline scores naturally drift toward the average on retest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Effect — repeated measurement itself may change participants' responses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Instrumentation — changes in measurement tools or observers over the course of the study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Attrition — differential dropout between groups distorts the comparison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Strengths &amp; Limitations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3840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37760" y="1115568"/>
            <a:ext cx="384048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115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Feasible when randomization is unethical or impossible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external validity — studies real-world settings and populations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use existing data (administrative records, surveys)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cost-effective than fully controlled experiments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Suitable for evaluating large-scale policies and programs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7276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internal validity than true RCTs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Cannot fully eliminate confounding variables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may not be as credible as randomized evidence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 strong assumptions (parallel trends, no manipulation of running variable)</a:t>
            </a:r>
            <a:endParaRPr lang="en-US" sz="2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 requires careful statistical expertise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26280" y="1115568"/>
            <a:ext cx="54864" cy="37490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Worked Example: School Nutrition Program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Question: Does a free school lunch program improve student academic performance?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Used: Non-Equivalent Control Group Design (NECGD) + Pretest-Posttest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Treatment Group: 5 schools in low-income district receive program in September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Control Group: 5 demographically similar schools in adjacent district — no program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Measurement: Standardized math &amp; reading scores collected in August (pre) and June (post)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Analysis: ANCOVA controlling for baseline scores, free/reduced lunch eligibility, and prior GPA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Finding: Treatment schools showed +8% gain vs. +3% in controls (net effect = +5 percentage points)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Interpretation: Effect is plausible but selection bias (e.g., district policy differences) cannot be fully ruled out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to Use Quasi-Experimental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Randomization is ethically impermissible (e.g., withholding medical treatment from a control group)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Intervention has already been implemented before the researcher became involved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treatment is assigned by a rule or threshold (ideal for RDD)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Administrative or longitudinal data are available over multiple time periods (ideal for ITSD or DiD)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Resources and time are insufficient for a full RCT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makers require timely evidence — QED can be faster and less costly than RCTs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2E2E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researcher needs generalizable findings from naturalistic settings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038"/>
          </a:solidFill>
          <a:ln w="12700">
            <a:solidFill>
              <a:srgbClr val="1420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4572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9A84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QED provides a middle ground between full experimental control and purely observational research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core types: NECGD, ITSD, RDD, DiD, and PSM — each suited to different data structures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random assignment means threats to internal validity must be explicitly acknowledged and mitigated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Well-designed QEDs (especially RDD and DiD) can approach the credibility of RCTs when assumptions hold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Always disclose the design's limitations; triangulate with other evidence whenever possible</a:t>
            </a:r>
            <a:endParaRPr lang="en-US" sz="2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QED is the backbone of real-world policy and program evaluation research worldwide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1113</Words>
  <Application>Microsoft Office PowerPoint</Application>
  <PresentationFormat>On-screen Show (16:9)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Quasi-Experimental Design</dc:title>
  <dc:subject>PptxGenJS Presentation</dc:subject>
  <dc:creator>PptxGenJS</dc:creator>
  <cp:lastModifiedBy>User</cp:lastModifiedBy>
  <cp:revision>3</cp:revision>
  <dcterms:created xsi:type="dcterms:W3CDTF">2026-04-23T09:41:28Z</dcterms:created>
  <dcterms:modified xsi:type="dcterms:W3CDTF">2026-04-23T09:44:33Z</dcterms:modified>
</cp:coreProperties>
</file>