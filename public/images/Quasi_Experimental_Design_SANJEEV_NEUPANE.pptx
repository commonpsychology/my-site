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  <p:sldId id="266" r:id="rId11"/>
    <p:sldId id="267" r:id="rId12"/>
    <p:sldId id="268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46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379208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371600"/>
            <a:ext cx="109728" cy="237744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49808" y="1280160"/>
            <a:ext cx="7863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Quasi-Experimental Design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49808" y="283464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i="1" dirty="0">
                <a:solidFill>
                  <a:srgbClr val="C9A84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Concepts, Types, Examples &amp; Applications</a:t>
            </a:r>
          </a:p>
          <a:p>
            <a:pPr marL="0" indent="0" algn="l">
              <a:buNone/>
            </a:pPr>
            <a:endParaRPr lang="en-US" sz="2200" i="1" dirty="0">
              <a:solidFill>
                <a:srgbClr val="C9A84C"/>
              </a:solidFill>
              <a:latin typeface="Times New Roman" pitchFamily="34" charset="0"/>
              <a:cs typeface="Times New Roman" pitchFamily="34" charset="-120"/>
            </a:endParaRPr>
          </a:p>
          <a:p>
            <a:pPr marL="0" indent="0" algn="r">
              <a:buNone/>
            </a:pPr>
            <a:r>
              <a:rPr lang="en-US" sz="2200" i="1" dirty="0">
                <a:solidFill>
                  <a:srgbClr val="C9A84C"/>
                </a:solidFill>
                <a:latin typeface="Times New Roman" pitchFamily="34" charset="0"/>
                <a:cs typeface="Times New Roman" pitchFamily="34" charset="-120"/>
              </a:rPr>
              <a:t>PRESENTED BY:</a:t>
            </a:r>
          </a:p>
          <a:p>
            <a:pPr marL="0" indent="0" algn="r">
              <a:buNone/>
            </a:pPr>
            <a:r>
              <a:rPr lang="en-US" sz="2200" i="1" dirty="0">
                <a:solidFill>
                  <a:srgbClr val="C9A84C"/>
                </a:solidFill>
                <a:latin typeface="Times New Roman" pitchFamily="34" charset="0"/>
                <a:cs typeface="Times New Roman" pitchFamily="34" charset="-120"/>
              </a:rPr>
              <a:t>SANJEEV NEUPANE</a:t>
            </a:r>
          </a:p>
          <a:p>
            <a:pPr marL="0" indent="0" algn="r">
              <a:buNone/>
            </a:pPr>
            <a:r>
              <a:rPr lang="en-US" sz="2200" i="1" dirty="0">
                <a:solidFill>
                  <a:srgbClr val="C9A84C"/>
                </a:solidFill>
                <a:latin typeface="Times New Roman" pitchFamily="34" charset="0"/>
                <a:cs typeface="Times New Roman" pitchFamily="34" charset="-120"/>
              </a:rPr>
              <a:t>ROLL NO: 15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45720"/>
            <a:ext cx="8321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B2A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Is Quasi-Experimental Design?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11480" y="1005840"/>
            <a:ext cx="8321040" cy="365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822960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spcAft>
                <a:spcPts val="300"/>
              </a:spcAft>
              <a:buSzPct val="100000"/>
              <a:buChar char="•"/>
            </a:pPr>
            <a:r>
              <a:rPr lang="en-US" sz="2000" dirty="0">
                <a:solidFill>
                  <a:srgbClr val="2E2E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research design that resembles a true experiment but lacks full random assignment of participants to conditions</a:t>
            </a:r>
            <a:endParaRPr lang="en-US" sz="2000" dirty="0"/>
          </a:p>
          <a:p>
            <a:pPr marL="342900" indent="-342900" algn="l">
              <a:spcAft>
                <a:spcPts val="300"/>
              </a:spcAft>
              <a:buSzPct val="100000"/>
              <a:buChar char="•"/>
            </a:pPr>
            <a:r>
              <a:rPr lang="en-US" sz="2000" dirty="0">
                <a:solidFill>
                  <a:srgbClr val="2E2E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Researcher manipulates an independent variable but cannot control all extraneous variables</a:t>
            </a:r>
            <a:endParaRPr lang="en-US" sz="2000" dirty="0"/>
          </a:p>
          <a:p>
            <a:pPr marL="342900" indent="-342900" algn="l">
              <a:spcAft>
                <a:spcPts val="300"/>
              </a:spcAft>
              <a:buSzPct val="100000"/>
              <a:buChar char="•"/>
            </a:pPr>
            <a:r>
              <a:rPr lang="en-US" sz="2000" dirty="0">
                <a:solidFill>
                  <a:srgbClr val="2E2E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Sits between true experimental and non-experimental (correlational) research</a:t>
            </a:r>
            <a:endParaRPr lang="en-US" sz="2000" dirty="0"/>
          </a:p>
          <a:p>
            <a:pPr marL="342900" indent="-342900" algn="l">
              <a:spcAft>
                <a:spcPts val="300"/>
              </a:spcAft>
              <a:buSzPct val="100000"/>
              <a:buChar char="•"/>
            </a:pPr>
            <a:r>
              <a:rPr lang="en-US" sz="2000" dirty="0">
                <a:solidFill>
                  <a:srgbClr val="2E2E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Used when randomization is ethically, practically, or logistically impossible</a:t>
            </a:r>
            <a:endParaRPr lang="en-US" sz="2000" dirty="0"/>
          </a:p>
          <a:p>
            <a:pPr marL="342900" indent="-342900" algn="l">
              <a:spcAft>
                <a:spcPts val="300"/>
              </a:spcAft>
              <a:buSzPct val="100000"/>
              <a:buChar char="•"/>
            </a:pPr>
            <a:r>
              <a:rPr lang="en-US" sz="2000" dirty="0">
                <a:solidFill>
                  <a:srgbClr val="2E2E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Widely applied in education, public health, economics, and social policy research</a:t>
            </a:r>
            <a:endParaRPr lang="en-US" sz="2000" dirty="0"/>
          </a:p>
          <a:p>
            <a:pPr marL="342900" indent="-342900" algn="l">
              <a:spcAft>
                <a:spcPts val="300"/>
              </a:spcAft>
              <a:buSzPct val="100000"/>
              <a:buChar char="•"/>
            </a:pPr>
            <a:r>
              <a:rPr lang="en-US" sz="2000" dirty="0">
                <a:solidFill>
                  <a:srgbClr val="2E2E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Goal: Establish cause-and-effect relationships with available data constraints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45720"/>
            <a:ext cx="8321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B2A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QED vs True Experiment vs Non-Experiment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11480" y="1005840"/>
            <a:ext cx="8321040" cy="365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115568"/>
          <a:ext cx="8412480" cy="3657598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2251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Feature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True Experiment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60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B2A4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Quasi-Experiment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8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Non-Experiment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607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251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B2A4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Random Assignment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E2E2E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✔ Yes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E2E2E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✘ No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E2E2E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✘ No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251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B2A4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Manipulation of IV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E2E2E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✔ Yes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E2E2E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✔ Yes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E2E2E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✘ No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251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B2A4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Control Group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E2E2E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✔ Yes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E2E2E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Often Yes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E2E2E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Sometimes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251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B2A4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Internal Validity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E2E2E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High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E2E2E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Moderate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E2E2E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Low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251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B2A4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Feasibility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E2E2E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Lower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E2E2E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Higher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E2E2E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Highest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2251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B2A4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Causal Inference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E2E2E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Strong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E2E2E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Moderate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E2E2E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Weak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45720"/>
            <a:ext cx="8321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B2A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Major Types of Quasi-Experimental Design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11480" y="1005840"/>
            <a:ext cx="8321040" cy="365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spcAft>
                <a:spcPts val="300"/>
              </a:spcAft>
              <a:buSzPct val="100000"/>
              <a:buChar char="•"/>
            </a:pPr>
            <a:r>
              <a:rPr lang="en-US" sz="2000" dirty="0">
                <a:solidFill>
                  <a:srgbClr val="2E2E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1.  Non-Equivalent Control Group Design (NECGD) — most common; compares two pre-existing groups</a:t>
            </a:r>
            <a:endParaRPr lang="en-US" sz="2000" dirty="0"/>
          </a:p>
          <a:p>
            <a:pPr marL="342900" indent="-342900" algn="l">
              <a:spcAft>
                <a:spcPts val="300"/>
              </a:spcAft>
              <a:buSzPct val="100000"/>
              <a:buChar char="•"/>
            </a:pPr>
            <a:r>
              <a:rPr lang="en-US" sz="2000" dirty="0">
                <a:solidFill>
                  <a:srgbClr val="2E2E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2.  Interrupted Time Series Design (ITSD) — measures outcomes at multiple time points before and after an intervention</a:t>
            </a:r>
            <a:endParaRPr lang="en-US" sz="2000" dirty="0"/>
          </a:p>
          <a:p>
            <a:pPr marL="342900" indent="-342900" algn="l">
              <a:spcAft>
                <a:spcPts val="300"/>
              </a:spcAft>
              <a:buSzPct val="100000"/>
              <a:buChar char="•"/>
            </a:pPr>
            <a:r>
              <a:rPr lang="en-US" sz="2000" dirty="0">
                <a:solidFill>
                  <a:srgbClr val="2E2E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3.  Regression Discontinuity Design (RDD) — assigns treatment based on a cutoff score; compares units just above/below the threshold</a:t>
            </a:r>
            <a:endParaRPr lang="en-US" sz="2000" dirty="0"/>
          </a:p>
          <a:p>
            <a:pPr marL="342900" indent="-342900" algn="l">
              <a:spcAft>
                <a:spcPts val="300"/>
              </a:spcAft>
              <a:buSzPct val="100000"/>
              <a:buChar char="•"/>
            </a:pPr>
            <a:r>
              <a:rPr lang="en-US" sz="2000" dirty="0">
                <a:solidFill>
                  <a:srgbClr val="2E2E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4.  Difference-in-Differences (DiD) — compares change over time between a treatment and a comparison group</a:t>
            </a:r>
            <a:endParaRPr lang="en-US" sz="2000" dirty="0"/>
          </a:p>
          <a:p>
            <a:pPr marL="342900" indent="-342900" algn="l">
              <a:spcAft>
                <a:spcPts val="300"/>
              </a:spcAft>
              <a:buSzPct val="100000"/>
              <a:buChar char="•"/>
            </a:pPr>
            <a:r>
              <a:rPr lang="en-US" sz="2000" dirty="0">
                <a:solidFill>
                  <a:srgbClr val="2E2E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5.  Propensity Score Matching (PSM) — statistically matches treated and untreated units on observed covariates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45720"/>
            <a:ext cx="8321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B2A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1. Non-Equivalent Control Group Design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11480" y="1005840"/>
            <a:ext cx="8321040" cy="365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822960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spcAft>
                <a:spcPts val="300"/>
              </a:spcAft>
              <a:buSzPct val="100000"/>
              <a:buChar char="•"/>
            </a:pPr>
            <a:r>
              <a:rPr lang="en-US" sz="2000" dirty="0">
                <a:solidFill>
                  <a:srgbClr val="2E2E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Structure: Treatment group + comparison group, both measured pre- and post-intervention; NO random assignment</a:t>
            </a:r>
            <a:endParaRPr lang="en-US" sz="2000" dirty="0"/>
          </a:p>
          <a:p>
            <a:pPr marL="342900" indent="-342900" algn="l">
              <a:spcAft>
                <a:spcPts val="300"/>
              </a:spcAft>
              <a:buSzPct val="100000"/>
              <a:buChar char="•"/>
            </a:pPr>
            <a:r>
              <a:rPr lang="en-US" sz="2000" dirty="0">
                <a:solidFill>
                  <a:srgbClr val="2E2E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Groups are pre-existing (e.g., two classrooms, two hospitals) and may differ on baseline characteristics</a:t>
            </a:r>
            <a:endParaRPr lang="en-US" sz="2000" dirty="0"/>
          </a:p>
          <a:p>
            <a:pPr marL="342900" indent="-342900" algn="l">
              <a:spcAft>
                <a:spcPts val="300"/>
              </a:spcAft>
              <a:buSzPct val="100000"/>
              <a:buChar char="•"/>
            </a:pPr>
            <a:r>
              <a:rPr lang="en-US" sz="2000" dirty="0">
                <a:solidFill>
                  <a:srgbClr val="2E2E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Key threat: Selection bias — groups may differ systematically before treatment begins</a:t>
            </a:r>
            <a:endParaRPr lang="en-US" sz="2000" dirty="0"/>
          </a:p>
          <a:p>
            <a:pPr marL="342900" indent="-342900" algn="l">
              <a:spcAft>
                <a:spcPts val="300"/>
              </a:spcAft>
              <a:buSzPct val="100000"/>
              <a:buChar char="•"/>
            </a:pPr>
            <a:r>
              <a:rPr lang="en-US" sz="2000" dirty="0">
                <a:solidFill>
                  <a:srgbClr val="2E2E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Mitigation: Pretest scores, covariate adjustment (ANCOVA), or matching on background variables</a:t>
            </a:r>
            <a:endParaRPr lang="en-US" sz="2000" dirty="0"/>
          </a:p>
          <a:p>
            <a:pPr marL="342900" indent="-342900" algn="l">
              <a:spcAft>
                <a:spcPts val="300"/>
              </a:spcAft>
              <a:buSzPct val="100000"/>
              <a:buChar char="•"/>
            </a:pPr>
            <a:r>
              <a:rPr lang="en-US" sz="2000" dirty="0">
                <a:solidFill>
                  <a:srgbClr val="2E2E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Example: A new reading curriculum is introduced in School A; School B (similar demographics) serves as control — reading scores compared before and after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45720"/>
            <a:ext cx="8321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B2A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2. Interrupted Time Series Design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11480" y="1005840"/>
            <a:ext cx="8321040" cy="365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822960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spcAft>
                <a:spcPts val="300"/>
              </a:spcAft>
              <a:buSzPct val="100000"/>
              <a:buChar char="•"/>
            </a:pPr>
            <a:r>
              <a:rPr lang="en-US" sz="2000" dirty="0">
                <a:solidFill>
                  <a:srgbClr val="2E2E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Structure: A single group is measured repeatedly over time; an intervention 'interrupts' the series at a known point</a:t>
            </a:r>
            <a:endParaRPr lang="en-US" sz="2000" dirty="0"/>
          </a:p>
          <a:p>
            <a:pPr marL="342900" indent="-342900" algn="l">
              <a:spcAft>
                <a:spcPts val="300"/>
              </a:spcAft>
              <a:buSzPct val="100000"/>
              <a:buChar char="•"/>
            </a:pPr>
            <a:r>
              <a:rPr lang="en-US" sz="2000" dirty="0">
                <a:solidFill>
                  <a:srgbClr val="2E2E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Analyst looks for a change in level (immediate shift) or slope (trend change) after the intervention</a:t>
            </a:r>
            <a:endParaRPr lang="en-US" sz="2000" dirty="0"/>
          </a:p>
          <a:p>
            <a:pPr marL="342900" indent="-342900" algn="l">
              <a:spcAft>
                <a:spcPts val="300"/>
              </a:spcAft>
              <a:buSzPct val="100000"/>
              <a:buChar char="•"/>
            </a:pPr>
            <a:r>
              <a:rPr lang="en-US" sz="2000" dirty="0">
                <a:solidFill>
                  <a:srgbClr val="2E2E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Stronger than a simple pre-post comparison because the pre-intervention trend is explicitly modeled</a:t>
            </a:r>
            <a:endParaRPr lang="en-US" sz="2000" dirty="0"/>
          </a:p>
          <a:p>
            <a:pPr marL="342900" indent="-342900" algn="l">
              <a:spcAft>
                <a:spcPts val="300"/>
              </a:spcAft>
              <a:buSzPct val="100000"/>
              <a:buChar char="•"/>
            </a:pPr>
            <a:r>
              <a:rPr lang="en-US" sz="2000" dirty="0">
                <a:solidFill>
                  <a:srgbClr val="2E2E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Key threat: History — other events occurring at the same time as the intervention may explain the change</a:t>
            </a:r>
            <a:endParaRPr lang="en-US" sz="2000" dirty="0"/>
          </a:p>
          <a:p>
            <a:pPr marL="342900" indent="-342900" algn="l">
              <a:spcAft>
                <a:spcPts val="300"/>
              </a:spcAft>
              <a:buSzPct val="100000"/>
              <a:buChar char="•"/>
            </a:pPr>
            <a:r>
              <a:rPr lang="en-US" sz="2000" dirty="0">
                <a:solidFill>
                  <a:srgbClr val="2E2E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Example: Monthly road fatalities recorded for 3 years before and after a drunk-driving law was enacted — a drop in fatalities post-law suggests policy effect</a:t>
            </a:r>
            <a:endParaRPr lang="en-US" sz="2000" dirty="0"/>
          </a:p>
          <a:p>
            <a:pPr marL="342900" indent="-342900" algn="l">
              <a:spcAft>
                <a:spcPts val="300"/>
              </a:spcAft>
              <a:buSzPct val="100000"/>
              <a:buChar char="•"/>
            </a:pPr>
            <a:r>
              <a:rPr lang="en-US" sz="2000" dirty="0">
                <a:solidFill>
                  <a:srgbClr val="2E2E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Best for policy/program evaluations where administrative data are available over long periods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45720"/>
            <a:ext cx="8321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B2A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3. Regression Discontinuity Design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11480" y="1005840"/>
            <a:ext cx="8321040" cy="365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822960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spcAft>
                <a:spcPts val="300"/>
              </a:spcAft>
              <a:buSzPct val="100000"/>
              <a:buChar char="•"/>
            </a:pPr>
            <a:r>
              <a:rPr lang="en-US" sz="2000" dirty="0">
                <a:solidFill>
                  <a:srgbClr val="2E2E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Structure: Treatment assigned by whether a continuous 'running variable' (score, age, income) crosses a known cutoff</a:t>
            </a:r>
            <a:endParaRPr lang="en-US" sz="2000" dirty="0"/>
          </a:p>
          <a:p>
            <a:pPr marL="342900" indent="-342900" algn="l">
              <a:spcAft>
                <a:spcPts val="300"/>
              </a:spcAft>
              <a:buSzPct val="100000"/>
              <a:buChar char="•"/>
            </a:pPr>
            <a:r>
              <a:rPr lang="en-US" sz="2000" dirty="0">
                <a:solidFill>
                  <a:srgbClr val="2E2E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Units just below and just above the cutoff are assumed to be comparable — a 'local' randomization</a:t>
            </a:r>
            <a:endParaRPr lang="en-US" sz="2000" dirty="0"/>
          </a:p>
          <a:p>
            <a:pPr marL="342900" indent="-342900" algn="l">
              <a:spcAft>
                <a:spcPts val="300"/>
              </a:spcAft>
              <a:buSzPct val="100000"/>
              <a:buChar char="•"/>
            </a:pPr>
            <a:r>
              <a:rPr lang="en-US" sz="2000" dirty="0">
                <a:solidFill>
                  <a:srgbClr val="2E2E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Comparison is made at the threshold; the discontinuous jump in outcome at the cutoff is the causal estimate</a:t>
            </a:r>
            <a:endParaRPr lang="en-US" sz="2000" dirty="0"/>
          </a:p>
          <a:p>
            <a:pPr marL="342900" indent="-342900" algn="l">
              <a:spcAft>
                <a:spcPts val="300"/>
              </a:spcAft>
              <a:buSzPct val="100000"/>
              <a:buChar char="•"/>
            </a:pPr>
            <a:r>
              <a:rPr lang="en-US" sz="2000" dirty="0">
                <a:solidFill>
                  <a:srgbClr val="2E2E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Key threats: Manipulation of the running variable near the cutoff; other variables that also change at the cutoff</a:t>
            </a:r>
            <a:endParaRPr lang="en-US" sz="2000" dirty="0"/>
          </a:p>
          <a:p>
            <a:pPr marL="342900" indent="-342900" algn="l">
              <a:spcAft>
                <a:spcPts val="300"/>
              </a:spcAft>
              <a:buSzPct val="100000"/>
              <a:buChar char="•"/>
            </a:pPr>
            <a:r>
              <a:rPr lang="en-US" sz="2000" dirty="0">
                <a:solidFill>
                  <a:srgbClr val="2E2E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Example: Students scoring below 70 on an exam are assigned to remedial tutoring; comparing outcomes for students scoring 68–69 vs. 70–72 isolates the tutoring effect</a:t>
            </a:r>
            <a:endParaRPr lang="en-US" sz="2000" dirty="0"/>
          </a:p>
          <a:p>
            <a:pPr marL="342900" indent="-342900" algn="l">
              <a:spcAft>
                <a:spcPts val="300"/>
              </a:spcAft>
              <a:buSzPct val="100000"/>
              <a:buChar char="•"/>
            </a:pPr>
            <a:r>
              <a:rPr lang="en-US" sz="2000" dirty="0">
                <a:solidFill>
                  <a:srgbClr val="2E2E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Widely used in education (test-score thresholds), social programs (income eligibility), and electoral studies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45720"/>
            <a:ext cx="8321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B2A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Threats to Internal Validity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11480" y="1005840"/>
            <a:ext cx="8321040" cy="365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822960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spcAft>
                <a:spcPts val="300"/>
              </a:spcAft>
              <a:buSzPct val="100000"/>
              <a:buChar char="•"/>
            </a:pPr>
            <a:r>
              <a:rPr lang="en-US" sz="2000" dirty="0">
                <a:solidFill>
                  <a:srgbClr val="2E2E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Selection Bias — pre-existing differences between groups, not the intervention, may explain results</a:t>
            </a:r>
            <a:endParaRPr lang="en-US" sz="2000" dirty="0"/>
          </a:p>
          <a:p>
            <a:pPr marL="342900" indent="-342900" algn="l">
              <a:spcAft>
                <a:spcPts val="300"/>
              </a:spcAft>
              <a:buSzPct val="100000"/>
              <a:buChar char="•"/>
            </a:pPr>
            <a:r>
              <a:rPr lang="en-US" sz="2000" dirty="0">
                <a:solidFill>
                  <a:srgbClr val="2E2E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History — external events concurrent with the treatment that affect the outcome</a:t>
            </a:r>
            <a:endParaRPr lang="en-US" sz="2000" dirty="0"/>
          </a:p>
          <a:p>
            <a:pPr marL="342900" indent="-342900" algn="l">
              <a:spcAft>
                <a:spcPts val="300"/>
              </a:spcAft>
              <a:buSzPct val="100000"/>
              <a:buChar char="•"/>
            </a:pPr>
            <a:r>
              <a:rPr lang="en-US" sz="2000" dirty="0">
                <a:solidFill>
                  <a:srgbClr val="2E2E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Maturation — natural change over time in participants (growth, learning, recovery) unrelated to treatment</a:t>
            </a:r>
            <a:endParaRPr lang="en-US" sz="2000" dirty="0"/>
          </a:p>
          <a:p>
            <a:pPr marL="342900" indent="-342900" algn="l">
              <a:spcAft>
                <a:spcPts val="300"/>
              </a:spcAft>
              <a:buSzPct val="100000"/>
              <a:buChar char="•"/>
            </a:pPr>
            <a:r>
              <a:rPr lang="en-US" sz="2000" dirty="0">
                <a:solidFill>
                  <a:srgbClr val="2E2E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Regression to the Mean — extreme baseline scores naturally drift toward the average on retest</a:t>
            </a:r>
            <a:endParaRPr lang="en-US" sz="2000" dirty="0"/>
          </a:p>
          <a:p>
            <a:pPr marL="342900" indent="-342900" algn="l">
              <a:spcAft>
                <a:spcPts val="300"/>
              </a:spcAft>
              <a:buSzPct val="100000"/>
              <a:buChar char="•"/>
            </a:pPr>
            <a:r>
              <a:rPr lang="en-US" sz="2000" dirty="0">
                <a:solidFill>
                  <a:srgbClr val="2E2E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Testing Effect — repeated measurement itself may change participants' responses</a:t>
            </a:r>
            <a:endParaRPr lang="en-US" sz="2000" dirty="0"/>
          </a:p>
          <a:p>
            <a:pPr marL="342900" indent="-342900" algn="l">
              <a:spcAft>
                <a:spcPts val="300"/>
              </a:spcAft>
              <a:buSzPct val="100000"/>
              <a:buChar char="•"/>
            </a:pPr>
            <a:r>
              <a:rPr lang="en-US" sz="2000" dirty="0">
                <a:solidFill>
                  <a:srgbClr val="2E2E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Instrumentation — changes in measurement tools or observers over the course of the study</a:t>
            </a:r>
            <a:endParaRPr lang="en-US" sz="2000" dirty="0"/>
          </a:p>
          <a:p>
            <a:pPr marL="342900" indent="-342900" algn="l">
              <a:spcAft>
                <a:spcPts val="300"/>
              </a:spcAft>
              <a:buSzPct val="100000"/>
              <a:buChar char="•"/>
            </a:pPr>
            <a:r>
              <a:rPr lang="en-US" sz="2000" dirty="0">
                <a:solidFill>
                  <a:srgbClr val="2E2E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Attrition — differential dropout between groups distorts the comparison</a:t>
            </a:r>
            <a:endParaRPr 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45720"/>
            <a:ext cx="8321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B2A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Strengths &amp; Limitations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11480" y="1005840"/>
            <a:ext cx="8321040" cy="365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1115568"/>
            <a:ext cx="3840480" cy="38404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1115568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Strengths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937760" y="1115568"/>
            <a:ext cx="3840480" cy="38404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937760" y="1115568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2A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Limitations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65760" y="1572768"/>
            <a:ext cx="384048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2000" dirty="0">
                <a:solidFill>
                  <a:srgbClr val="2E2E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Feasible when randomization is unethical or impossible</a:t>
            </a:r>
            <a:endParaRPr lang="en-US" sz="2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2000" dirty="0">
                <a:solidFill>
                  <a:srgbClr val="2E2E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High external validity — studies real-world settings and populations</a:t>
            </a:r>
            <a:endParaRPr lang="en-US" sz="2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2000" dirty="0">
                <a:solidFill>
                  <a:srgbClr val="2E2E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Can use existing data (administrative records, surveys)</a:t>
            </a:r>
            <a:endParaRPr lang="en-US" sz="2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2000" dirty="0">
                <a:solidFill>
                  <a:srgbClr val="2E2E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More cost-effective than fully controlled experiments</a:t>
            </a:r>
            <a:endParaRPr lang="en-US" sz="2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2000" dirty="0">
                <a:solidFill>
                  <a:srgbClr val="2E2E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Suitable for evaluating large-scale policies and programs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937760" y="1572768"/>
            <a:ext cx="384048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2000" dirty="0">
                <a:solidFill>
                  <a:srgbClr val="2E2E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Lower internal validity than true RCTs</a:t>
            </a:r>
            <a:endParaRPr lang="en-US" sz="2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2000" dirty="0">
                <a:solidFill>
                  <a:srgbClr val="2E2E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Cannot fully eliminate confounding variables</a:t>
            </a:r>
            <a:endParaRPr lang="en-US" sz="2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2000" dirty="0">
                <a:solidFill>
                  <a:srgbClr val="2E2E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Results may not be as credible as randomized evidence</a:t>
            </a:r>
            <a:endParaRPr lang="en-US" sz="2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2000" dirty="0">
                <a:solidFill>
                  <a:srgbClr val="2E2E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Require strong assumptions (parallel trends, no manipulation of running variable)</a:t>
            </a:r>
            <a:endParaRPr lang="en-US" sz="2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2000" dirty="0">
                <a:solidFill>
                  <a:srgbClr val="2E2E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Interpretation requires careful statistical expertise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4526280" y="1115568"/>
            <a:ext cx="54864" cy="3749040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45720"/>
            <a:ext cx="8321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B2A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Full Worked Example: School Nutrition Program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11480" y="1005840"/>
            <a:ext cx="8321040" cy="365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822960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spcAft>
                <a:spcPts val="300"/>
              </a:spcAft>
              <a:buSzPct val="100000"/>
              <a:buChar char="•"/>
            </a:pPr>
            <a:r>
              <a:rPr lang="en-US" sz="2000" dirty="0">
                <a:solidFill>
                  <a:srgbClr val="2E2E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Research Question: Does a free school lunch program improve student academic performance?</a:t>
            </a:r>
            <a:endParaRPr lang="en-US" sz="2000" dirty="0"/>
          </a:p>
          <a:p>
            <a:pPr marL="342900" indent="-342900" algn="l">
              <a:spcAft>
                <a:spcPts val="300"/>
              </a:spcAft>
              <a:buSzPct val="100000"/>
              <a:buChar char="•"/>
            </a:pPr>
            <a:r>
              <a:rPr lang="en-US" sz="2000" dirty="0">
                <a:solidFill>
                  <a:srgbClr val="2E2E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Design Used: Non-Equivalent Control Group Design (NECGD) + Pretest-Posttest</a:t>
            </a:r>
            <a:endParaRPr lang="en-US" sz="2000" dirty="0"/>
          </a:p>
          <a:p>
            <a:pPr marL="342900" indent="-342900" algn="l">
              <a:spcAft>
                <a:spcPts val="300"/>
              </a:spcAft>
              <a:buSzPct val="100000"/>
              <a:buChar char="•"/>
            </a:pPr>
            <a:r>
              <a:rPr lang="en-US" sz="2000" dirty="0">
                <a:solidFill>
                  <a:srgbClr val="2E2E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Treatment Group: 5 schools in low-income district receive program in September</a:t>
            </a:r>
            <a:endParaRPr lang="en-US" sz="2000" dirty="0"/>
          </a:p>
          <a:p>
            <a:pPr marL="342900" indent="-342900" algn="l">
              <a:spcAft>
                <a:spcPts val="300"/>
              </a:spcAft>
              <a:buSzPct val="100000"/>
              <a:buChar char="•"/>
            </a:pPr>
            <a:r>
              <a:rPr lang="en-US" sz="2000" dirty="0">
                <a:solidFill>
                  <a:srgbClr val="2E2E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Control Group: 5 demographically similar schools in adjacent district — no program</a:t>
            </a:r>
            <a:endParaRPr lang="en-US" sz="2000" dirty="0"/>
          </a:p>
          <a:p>
            <a:pPr marL="342900" indent="-342900" algn="l">
              <a:spcAft>
                <a:spcPts val="300"/>
              </a:spcAft>
              <a:buSzPct val="100000"/>
              <a:buChar char="•"/>
            </a:pPr>
            <a:r>
              <a:rPr lang="en-US" sz="2000" dirty="0">
                <a:solidFill>
                  <a:srgbClr val="2E2E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Measurement: Standardized math &amp; reading scores collected in August (pre) and June (post)</a:t>
            </a:r>
            <a:endParaRPr lang="en-US" sz="2000" dirty="0"/>
          </a:p>
          <a:p>
            <a:pPr marL="342900" indent="-342900" algn="l">
              <a:spcAft>
                <a:spcPts val="300"/>
              </a:spcAft>
              <a:buSzPct val="100000"/>
              <a:buChar char="•"/>
            </a:pPr>
            <a:r>
              <a:rPr lang="en-US" sz="2000" dirty="0">
                <a:solidFill>
                  <a:srgbClr val="2E2E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Analysis: ANCOVA controlling for baseline scores, free/reduced lunch eligibility, and prior GPA</a:t>
            </a:r>
            <a:endParaRPr lang="en-US" sz="2000" dirty="0"/>
          </a:p>
          <a:p>
            <a:pPr marL="342900" indent="-342900" algn="l">
              <a:spcAft>
                <a:spcPts val="300"/>
              </a:spcAft>
              <a:buSzPct val="100000"/>
              <a:buChar char="•"/>
            </a:pPr>
            <a:r>
              <a:rPr lang="en-US" sz="2000" dirty="0">
                <a:solidFill>
                  <a:srgbClr val="2E2E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Finding: Treatment schools showed +8% gain vs. +3% in controls (net effect = +5 percentage points)</a:t>
            </a:r>
            <a:endParaRPr lang="en-US" sz="2000" dirty="0"/>
          </a:p>
          <a:p>
            <a:pPr marL="342900" indent="-342900" algn="l">
              <a:spcAft>
                <a:spcPts val="300"/>
              </a:spcAft>
              <a:buSzPct val="100000"/>
              <a:buChar char="•"/>
            </a:pPr>
            <a:r>
              <a:rPr lang="en-US" sz="2000" dirty="0">
                <a:solidFill>
                  <a:srgbClr val="2E2E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Interpretation: Effect is plausible but selection bias (e.g., district policy differences) cannot be fully ruled out</a:t>
            </a:r>
            <a:endParaRPr lang="en-US" sz="2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45720"/>
            <a:ext cx="8321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B2A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When to Use Quasi-Experimental Design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11480" y="1005840"/>
            <a:ext cx="8321040" cy="365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822960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spcAft>
                <a:spcPts val="300"/>
              </a:spcAft>
              <a:buSzPct val="100000"/>
              <a:buChar char="•"/>
            </a:pPr>
            <a:r>
              <a:rPr lang="en-US" sz="2000" dirty="0">
                <a:solidFill>
                  <a:srgbClr val="2E2E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Randomization is ethically impermissible (e.g., withholding medical treatment from a control group)</a:t>
            </a:r>
            <a:endParaRPr lang="en-US" sz="2000" dirty="0"/>
          </a:p>
          <a:p>
            <a:pPr marL="342900" indent="-342900" algn="l">
              <a:spcAft>
                <a:spcPts val="300"/>
              </a:spcAft>
              <a:buSzPct val="100000"/>
              <a:buChar char="•"/>
            </a:pPr>
            <a:r>
              <a:rPr lang="en-US" sz="2000" dirty="0">
                <a:solidFill>
                  <a:srgbClr val="2E2E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Intervention has already been implemented before the researcher became involved</a:t>
            </a:r>
            <a:endParaRPr lang="en-US" sz="2000" dirty="0"/>
          </a:p>
          <a:p>
            <a:pPr marL="342900" indent="-342900" algn="l">
              <a:spcAft>
                <a:spcPts val="300"/>
              </a:spcAft>
              <a:buSzPct val="100000"/>
              <a:buChar char="•"/>
            </a:pPr>
            <a:r>
              <a:rPr lang="en-US" sz="2000" dirty="0">
                <a:solidFill>
                  <a:srgbClr val="2E2E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treatment is assigned by a rule or threshold (ideal for RDD)</a:t>
            </a:r>
            <a:endParaRPr lang="en-US" sz="2000" dirty="0"/>
          </a:p>
          <a:p>
            <a:pPr marL="342900" indent="-342900" algn="l">
              <a:spcAft>
                <a:spcPts val="300"/>
              </a:spcAft>
              <a:buSzPct val="100000"/>
              <a:buChar char="•"/>
            </a:pPr>
            <a:r>
              <a:rPr lang="en-US" sz="2000" dirty="0">
                <a:solidFill>
                  <a:srgbClr val="2E2E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Administrative or longitudinal data are available over multiple time periods (ideal for ITSD or DiD)</a:t>
            </a:r>
            <a:endParaRPr lang="en-US" sz="2000" dirty="0"/>
          </a:p>
          <a:p>
            <a:pPr marL="342900" indent="-342900" algn="l">
              <a:spcAft>
                <a:spcPts val="300"/>
              </a:spcAft>
              <a:buSzPct val="100000"/>
              <a:buChar char="•"/>
            </a:pPr>
            <a:r>
              <a:rPr lang="en-US" sz="2000" dirty="0">
                <a:solidFill>
                  <a:srgbClr val="2E2E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Resources and time are insufficient for a full RCT</a:t>
            </a:r>
            <a:endParaRPr lang="en-US" sz="2000" dirty="0"/>
          </a:p>
          <a:p>
            <a:pPr marL="342900" indent="-342900" algn="l">
              <a:spcAft>
                <a:spcPts val="300"/>
              </a:spcAft>
              <a:buSzPct val="100000"/>
              <a:buChar char="•"/>
            </a:pPr>
            <a:r>
              <a:rPr lang="en-US" sz="2000" dirty="0">
                <a:solidFill>
                  <a:srgbClr val="2E2E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Policy makers require timely evidence — QED can be faster and less costly than RCTs</a:t>
            </a:r>
            <a:endParaRPr lang="en-US" sz="2000" dirty="0"/>
          </a:p>
          <a:p>
            <a:pPr marL="342900" indent="-342900" algn="l">
              <a:spcAft>
                <a:spcPts val="300"/>
              </a:spcAft>
              <a:buSzPct val="100000"/>
              <a:buChar char="•"/>
            </a:pPr>
            <a:r>
              <a:rPr lang="en-US" sz="2000" dirty="0">
                <a:solidFill>
                  <a:srgbClr val="2E2E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researcher needs generalizable findings from naturalistic settings</a:t>
            </a:r>
            <a:endParaRPr lang="en-US" sz="2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038"/>
          </a:solidFill>
          <a:ln w="12700">
            <a:solidFill>
              <a:srgbClr val="1420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45720"/>
            <a:ext cx="8321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C9A84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Key Takeaways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11480" y="1005840"/>
            <a:ext cx="8321040" cy="365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822960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spcAft>
                <a:spcPts val="300"/>
              </a:spcAft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QED provides a middle ground between full experimental control and purely observational research</a:t>
            </a:r>
            <a:endParaRPr lang="en-US" sz="2000" dirty="0"/>
          </a:p>
          <a:p>
            <a:pPr marL="342900" indent="-342900" algn="l">
              <a:spcAft>
                <a:spcPts val="300"/>
              </a:spcAft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Five core types: NECGD, ITSD, RDD, DiD, and PSM — each suited to different data structures</a:t>
            </a:r>
            <a:endParaRPr lang="en-US" sz="2000" dirty="0"/>
          </a:p>
          <a:p>
            <a:pPr marL="342900" indent="-342900" algn="l">
              <a:spcAft>
                <a:spcPts val="300"/>
              </a:spcAft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No random assignment means threats to internal validity must be explicitly acknowledged and mitigated</a:t>
            </a:r>
            <a:endParaRPr lang="en-US" sz="2000" dirty="0"/>
          </a:p>
          <a:p>
            <a:pPr marL="342900" indent="-342900" algn="l">
              <a:spcAft>
                <a:spcPts val="300"/>
              </a:spcAft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Well-designed QEDs (especially RDD and DiD) can approach the credibility of RCTs when assumptions hold</a:t>
            </a:r>
            <a:endParaRPr lang="en-US" sz="2000" dirty="0"/>
          </a:p>
          <a:p>
            <a:pPr marL="342900" indent="-342900" algn="l">
              <a:spcAft>
                <a:spcPts val="300"/>
              </a:spcAft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Always disclose the design's limitations; triangulate with other evidence whenever possible</a:t>
            </a:r>
            <a:endParaRPr lang="en-US" sz="2000" dirty="0"/>
          </a:p>
          <a:p>
            <a:pPr marL="342900" indent="-342900" algn="l">
              <a:spcAft>
                <a:spcPts val="300"/>
              </a:spcAft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QED is the backbone of real-world policy and program evaluation research worldwide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1113</Words>
  <Application>Microsoft Office PowerPoint</Application>
  <PresentationFormat>On-screen Show (16:9)</PresentationFormat>
  <Paragraphs>125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Quasi-Experimental Design</dc:title>
  <dc:subject>PptxGenJS Presentation</dc:subject>
  <dc:creator>PptxGenJS</dc:creator>
  <cp:lastModifiedBy>User</cp:lastModifiedBy>
  <cp:revision>3</cp:revision>
  <dcterms:created xsi:type="dcterms:W3CDTF">2026-04-23T09:41:28Z</dcterms:created>
  <dcterms:modified xsi:type="dcterms:W3CDTF">2026-04-23T09:44:50Z</dcterms:modified>
</cp:coreProperties>
</file>